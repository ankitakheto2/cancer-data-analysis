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66" r:id="rId8"/>
    <p:sldId id="267" r:id="rId9"/>
    <p:sldId id="263" r:id="rId10"/>
    <p:sldId id="264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771" autoAdjust="0"/>
  </p:normalViewPr>
  <p:slideViewPr>
    <p:cSldViewPr snapToGrid="0">
      <p:cViewPr varScale="1">
        <p:scale>
          <a:sx n="78" d="100"/>
          <a:sy n="78" d="100"/>
        </p:scale>
        <p:origin x="86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F9BA2-4B04-41F6-AE56-97C5623A38C9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7DB11-204E-484F-93FC-789CB7EAAE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695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27DB11-204E-484F-93FC-789CB7EAAE2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11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619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92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472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09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364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2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8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54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11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34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801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1464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76636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08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29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52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3FF48-1AF6-43A7-B7EE-BE7383EABDA8}" type="datetimeFigureOut">
              <a:rPr lang="en-US" smtClean="0"/>
              <a:t>04/10/26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A167977-3825-41F7-8F04-FE6B91929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9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23417A-1087-399A-E3E6-88F548A2AABE}"/>
              </a:ext>
            </a:extLst>
          </p:cNvPr>
          <p:cNvSpPr txBox="1"/>
          <p:nvPr/>
        </p:nvSpPr>
        <p:spPr>
          <a:xfrm>
            <a:off x="3805086" y="665337"/>
            <a:ext cx="6715432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Cancer Data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7294A-8C76-8775-A06E-0DD100FDE9E1}"/>
              </a:ext>
            </a:extLst>
          </p:cNvPr>
          <p:cNvSpPr txBox="1"/>
          <p:nvPr/>
        </p:nvSpPr>
        <p:spPr>
          <a:xfrm>
            <a:off x="3805083" y="1487870"/>
            <a:ext cx="4483510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Ankita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</a:t>
            </a:r>
            <a:r>
              <a:rPr lang="en-US" sz="2800" b="1" dirty="0" err="1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Kheto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CE56FA-216B-3902-46F5-72CACE564990}"/>
              </a:ext>
            </a:extLst>
          </p:cNvPr>
          <p:cNvSpPr txBox="1"/>
          <p:nvPr/>
        </p:nvSpPr>
        <p:spPr>
          <a:xfrm>
            <a:off x="3805086" y="2165884"/>
            <a:ext cx="4100051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Data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63CA1-848C-22FC-FC29-8D448AC11B0C}"/>
              </a:ext>
            </a:extLst>
          </p:cNvPr>
          <p:cNvSpPr txBox="1"/>
          <p:nvPr/>
        </p:nvSpPr>
        <p:spPr>
          <a:xfrm>
            <a:off x="3805083" y="2873915"/>
            <a:ext cx="4483510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Python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ln/>
              <a:solidFill>
                <a:schemeClr val="accent3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7AC24-1960-28BA-5A49-8E8EE36E5F61}"/>
              </a:ext>
            </a:extLst>
          </p:cNvPr>
          <p:cNvSpPr txBox="1"/>
          <p:nvPr/>
        </p:nvSpPr>
        <p:spPr>
          <a:xfrm>
            <a:off x="1130709" y="662972"/>
            <a:ext cx="267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Project Name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C61873-496F-53F2-8B02-DFD86862CF8E}"/>
              </a:ext>
            </a:extLst>
          </p:cNvPr>
          <p:cNvSpPr txBox="1"/>
          <p:nvPr/>
        </p:nvSpPr>
        <p:spPr>
          <a:xfrm>
            <a:off x="1130709" y="1435558"/>
            <a:ext cx="267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Presented By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8B691-0F4A-98EE-1CE4-54154B4F2245}"/>
              </a:ext>
            </a:extLst>
          </p:cNvPr>
          <p:cNvSpPr txBox="1"/>
          <p:nvPr/>
        </p:nvSpPr>
        <p:spPr>
          <a:xfrm>
            <a:off x="1445343" y="2153641"/>
            <a:ext cx="267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Domain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87EC8D-4EAA-6687-183C-914964943CDD}"/>
              </a:ext>
            </a:extLst>
          </p:cNvPr>
          <p:cNvSpPr txBox="1"/>
          <p:nvPr/>
        </p:nvSpPr>
        <p:spPr>
          <a:xfrm>
            <a:off x="1229035" y="2926227"/>
            <a:ext cx="267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Tools Used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2128AC-845C-9892-DC38-D5C149B65ABF}"/>
              </a:ext>
            </a:extLst>
          </p:cNvPr>
          <p:cNvSpPr txBox="1"/>
          <p:nvPr/>
        </p:nvSpPr>
        <p:spPr>
          <a:xfrm>
            <a:off x="432622" y="6143689"/>
            <a:ext cx="5279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Total Recover Patient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238655-1A16-1D93-A4CE-69B68838744D}"/>
              </a:ext>
            </a:extLst>
          </p:cNvPr>
          <p:cNvSpPr txBox="1"/>
          <p:nvPr/>
        </p:nvSpPr>
        <p:spPr>
          <a:xfrm>
            <a:off x="3613356" y="3948180"/>
            <a:ext cx="3224981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chemeClr val="accent2"/>
                </a:solidFill>
                <a:latin typeface="Arial Black" panose="020B0A04020102020204" pitchFamily="34" charset="0"/>
              </a:rPr>
              <a:t>Key Metrics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1DDA71-2488-FBF2-8367-D5D1B729BB13}"/>
              </a:ext>
            </a:extLst>
          </p:cNvPr>
          <p:cNvSpPr txBox="1"/>
          <p:nvPr/>
        </p:nvSpPr>
        <p:spPr>
          <a:xfrm>
            <a:off x="4930876" y="5644173"/>
            <a:ext cx="3726425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53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E026E4-193B-51D3-07A1-18997BCEDCBF}"/>
              </a:ext>
            </a:extLst>
          </p:cNvPr>
          <p:cNvSpPr txBox="1"/>
          <p:nvPr/>
        </p:nvSpPr>
        <p:spPr>
          <a:xfrm>
            <a:off x="752168" y="5533554"/>
            <a:ext cx="381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Average Patient Age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99D86B-DE96-72C3-87E0-D2C46CB2D1AE}"/>
              </a:ext>
            </a:extLst>
          </p:cNvPr>
          <p:cNvSpPr txBox="1"/>
          <p:nvPr/>
        </p:nvSpPr>
        <p:spPr>
          <a:xfrm>
            <a:off x="4896464" y="4966942"/>
            <a:ext cx="3726425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10000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ADC68C-5C22-1466-EC00-4DC3164CB3DD}"/>
              </a:ext>
            </a:extLst>
          </p:cNvPr>
          <p:cNvSpPr txBox="1"/>
          <p:nvPr/>
        </p:nvSpPr>
        <p:spPr>
          <a:xfrm>
            <a:off x="1553500" y="5010132"/>
            <a:ext cx="37264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Total Patient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E20BAB-A0E6-1C58-58F9-C2EA30A53E49}"/>
              </a:ext>
            </a:extLst>
          </p:cNvPr>
          <p:cNvSpPr txBox="1"/>
          <p:nvPr/>
        </p:nvSpPr>
        <p:spPr>
          <a:xfrm>
            <a:off x="4975124" y="6230604"/>
            <a:ext cx="3726425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4931</a:t>
            </a:r>
          </a:p>
        </p:txBody>
      </p:sp>
    </p:spTree>
    <p:extLst>
      <p:ext uri="{BB962C8B-B14F-4D97-AF65-F5344CB8AC3E}">
        <p14:creationId xmlns:p14="http://schemas.microsoft.com/office/powerpoint/2010/main" val="3222916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42743A0-A923-D85D-E643-43F279E203C2}"/>
              </a:ext>
            </a:extLst>
          </p:cNvPr>
          <p:cNvSpPr txBox="1"/>
          <p:nvPr/>
        </p:nvSpPr>
        <p:spPr>
          <a:xfrm>
            <a:off x="656304" y="4383508"/>
            <a:ext cx="267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Data 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66270-EE11-8F71-AF17-747B88E18D20}"/>
              </a:ext>
            </a:extLst>
          </p:cNvPr>
          <p:cNvSpPr txBox="1"/>
          <p:nvPr/>
        </p:nvSpPr>
        <p:spPr>
          <a:xfrm>
            <a:off x="3234811" y="4379855"/>
            <a:ext cx="9989574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Kaggle – Cancer Dataset</a:t>
            </a:r>
            <a:r>
              <a:rPr lang="en-US" sz="2800" b="1" dirty="0">
                <a:ln/>
                <a:solidFill>
                  <a:schemeClr val="accent3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9BA8A-A440-EB6C-F85B-B38414C998F4}"/>
              </a:ext>
            </a:extLst>
          </p:cNvPr>
          <p:cNvSpPr txBox="1"/>
          <p:nvPr/>
        </p:nvSpPr>
        <p:spPr>
          <a:xfrm>
            <a:off x="865240" y="1129420"/>
            <a:ext cx="2674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Total Rows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F4348-5C9D-E78F-356B-C0391411C08C}"/>
              </a:ext>
            </a:extLst>
          </p:cNvPr>
          <p:cNvSpPr txBox="1"/>
          <p:nvPr/>
        </p:nvSpPr>
        <p:spPr>
          <a:xfrm>
            <a:off x="528486" y="1783696"/>
            <a:ext cx="3347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Total Columns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E0091E-634D-3474-0EA3-601708CA30A7}"/>
              </a:ext>
            </a:extLst>
          </p:cNvPr>
          <p:cNvSpPr txBox="1"/>
          <p:nvPr/>
        </p:nvSpPr>
        <p:spPr>
          <a:xfrm>
            <a:off x="319550" y="2528475"/>
            <a:ext cx="3347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>
                    <a:lumMod val="7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masis MT Pro Black" panose="02040A04050005020304" pitchFamily="18" charset="0"/>
              </a:rPr>
              <a:t> Column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D4659-28DC-564B-4E95-6044DFC6053F}"/>
              </a:ext>
            </a:extLst>
          </p:cNvPr>
          <p:cNvSpPr txBox="1"/>
          <p:nvPr/>
        </p:nvSpPr>
        <p:spPr>
          <a:xfrm>
            <a:off x="3667432" y="171027"/>
            <a:ext cx="5987845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Dataset Overview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45E056-7E25-D24E-F5E1-2B37E3D0A767}"/>
              </a:ext>
            </a:extLst>
          </p:cNvPr>
          <p:cNvSpPr txBox="1"/>
          <p:nvPr/>
        </p:nvSpPr>
        <p:spPr>
          <a:xfrm>
            <a:off x="3484308" y="1185343"/>
            <a:ext cx="2261417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10000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13FDF5-E8DD-8F54-972A-87F0F727A68F}"/>
              </a:ext>
            </a:extLst>
          </p:cNvPr>
          <p:cNvSpPr txBox="1"/>
          <p:nvPr/>
        </p:nvSpPr>
        <p:spPr>
          <a:xfrm>
            <a:off x="3539614" y="1804688"/>
            <a:ext cx="1297856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20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0A1440-CC59-FBBA-BEF2-03EDBC1103BE}"/>
              </a:ext>
            </a:extLst>
          </p:cNvPr>
          <p:cNvSpPr txBox="1"/>
          <p:nvPr/>
        </p:nvSpPr>
        <p:spPr>
          <a:xfrm>
            <a:off x="3484308" y="2567626"/>
            <a:ext cx="8681885" cy="19082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285750" indent="-285750" latinLnBrk="1">
              <a:buFont typeface="Wingdings" panose="05000000000000000000" pitchFamily="2" charset="2"/>
              <a:buChar char="Ø"/>
            </a:pPr>
            <a:r>
              <a:rPr lang="en-US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State ,  Rating Count Patient_ID,Age,Gender,Nationality,Emirate,Diagnosis_Date,Cancer_Type,Treatment_Type,Treatment_Start_Date,Hospital,Primary_Physician,Outcome,Death_Date,Cause_of_Death,Smoking_Status,Comorbidities,Ethnicity,Weight,Height</a:t>
            </a:r>
            <a:endParaRPr lang="en-US" b="1" dirty="0"/>
          </a:p>
          <a:p>
            <a:pPr latinLnBrk="1"/>
            <a:endParaRPr lang="en-US" dirty="0"/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800" b="1" dirty="0">
              <a:ln/>
              <a:solidFill>
                <a:schemeClr val="accent3"/>
              </a:solidFill>
              <a:latin typeface="Amasis MT Pro Black" panose="02040A040500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D88BF7F-69A3-F8AC-5011-D7A687B72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40" y="4910381"/>
            <a:ext cx="10882303" cy="168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931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0B3F6E-AD68-7306-7B86-DA60ADF81636}"/>
              </a:ext>
            </a:extLst>
          </p:cNvPr>
          <p:cNvSpPr txBox="1"/>
          <p:nvPr/>
        </p:nvSpPr>
        <p:spPr>
          <a:xfrm>
            <a:off x="9287242" y="-70935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665FB74-C0D5-713A-171A-38A004F1F366}"/>
              </a:ext>
            </a:extLst>
          </p:cNvPr>
          <p:cNvSpPr/>
          <p:nvPr/>
        </p:nvSpPr>
        <p:spPr>
          <a:xfrm flipV="1">
            <a:off x="5337162" y="563272"/>
            <a:ext cx="1061886" cy="369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45CD08CD-6F79-BCAB-183B-61BB662BB549}"/>
              </a:ext>
            </a:extLst>
          </p:cNvPr>
          <p:cNvCxnSpPr>
            <a:cxnSpLocks/>
          </p:cNvCxnSpPr>
          <p:nvPr/>
        </p:nvCxnSpPr>
        <p:spPr>
          <a:xfrm>
            <a:off x="3726446" y="2338726"/>
            <a:ext cx="538288" cy="41602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EC4B601-5101-7CF0-39D4-CB791FFCDCB3}"/>
              </a:ext>
            </a:extLst>
          </p:cNvPr>
          <p:cNvCxnSpPr>
            <a:cxnSpLocks/>
          </p:cNvCxnSpPr>
          <p:nvPr/>
        </p:nvCxnSpPr>
        <p:spPr>
          <a:xfrm>
            <a:off x="3625407" y="3934092"/>
            <a:ext cx="698299" cy="4137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101ED91-24C9-AE71-6C0D-89658C44E8CD}"/>
              </a:ext>
            </a:extLst>
          </p:cNvPr>
          <p:cNvSpPr/>
          <p:nvPr/>
        </p:nvSpPr>
        <p:spPr>
          <a:xfrm>
            <a:off x="8102900" y="2547694"/>
            <a:ext cx="40068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73EDAB2-DC7A-AC4E-2091-DFE4CE7C0A2F}"/>
              </a:ext>
            </a:extLst>
          </p:cNvPr>
          <p:cNvSpPr/>
          <p:nvPr/>
        </p:nvSpPr>
        <p:spPr>
          <a:xfrm>
            <a:off x="8225490" y="4277939"/>
            <a:ext cx="51366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9ACD6-82DC-2071-892D-D9AB1D13AA79}"/>
              </a:ext>
            </a:extLst>
          </p:cNvPr>
          <p:cNvSpPr txBox="1"/>
          <p:nvPr/>
        </p:nvSpPr>
        <p:spPr>
          <a:xfrm>
            <a:off x="8102900" y="563749"/>
            <a:ext cx="319548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Import Python Libraries 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FD7ED6-F15D-4516-3AFA-C0F60277D711}"/>
              </a:ext>
            </a:extLst>
          </p:cNvPr>
          <p:cNvSpPr txBox="1"/>
          <p:nvPr/>
        </p:nvSpPr>
        <p:spPr>
          <a:xfrm>
            <a:off x="8810788" y="4076770"/>
            <a:ext cx="325339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Dataset size (Rows Columns)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13D4638-D36D-65D5-2FE9-F698BEEA0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88" y="310545"/>
            <a:ext cx="4636012" cy="115268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E970D85-8082-7AAD-9758-B00269EDDF30}"/>
              </a:ext>
            </a:extLst>
          </p:cNvPr>
          <p:cNvSpPr txBox="1"/>
          <p:nvPr/>
        </p:nvSpPr>
        <p:spPr>
          <a:xfrm>
            <a:off x="8621525" y="2374058"/>
            <a:ext cx="3253393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Import Dataset using pandas 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B4CF266-7256-214E-307D-6F2D98AF7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082" y="3629402"/>
            <a:ext cx="3308324" cy="89473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095B2D5-1220-5080-2824-8AF61A25E4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82" y="5261065"/>
            <a:ext cx="3308324" cy="67764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C173C923-276C-469E-C3A4-08B457DCC9C5}"/>
              </a:ext>
            </a:extLst>
          </p:cNvPr>
          <p:cNvCxnSpPr>
            <a:cxnSpLocks/>
          </p:cNvCxnSpPr>
          <p:nvPr/>
        </p:nvCxnSpPr>
        <p:spPr>
          <a:xfrm>
            <a:off x="3685527" y="5375961"/>
            <a:ext cx="538288" cy="41602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C69AC0DD-7ED2-2A9E-5128-567ABFA8A892}"/>
              </a:ext>
            </a:extLst>
          </p:cNvPr>
          <p:cNvSpPr/>
          <p:nvPr/>
        </p:nvSpPr>
        <p:spPr>
          <a:xfrm>
            <a:off x="8339344" y="5831189"/>
            <a:ext cx="471444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92BEAF-83A2-7716-138F-3D7A5EEF3C67}"/>
              </a:ext>
            </a:extLst>
          </p:cNvPr>
          <p:cNvSpPr txBox="1"/>
          <p:nvPr/>
        </p:nvSpPr>
        <p:spPr>
          <a:xfrm>
            <a:off x="8846892" y="5646523"/>
            <a:ext cx="3217289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Top Records Preview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7C51E4A-10E3-F401-702F-7145F45545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082" y="2064907"/>
            <a:ext cx="3308324" cy="57917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F29A88-338E-1CD6-32EB-5D87CCC02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3706" y="2062239"/>
            <a:ext cx="3544590" cy="135531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83243A2-2BAD-6AD4-8C95-3F8C572515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5344" y="3973357"/>
            <a:ext cx="3474370" cy="55078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E796C530-10AE-89D7-0936-B932D79012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23815" y="4912901"/>
            <a:ext cx="4079425" cy="179085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29579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3131FF9A-21C6-537D-04A0-84843065FB08}"/>
              </a:ext>
            </a:extLst>
          </p:cNvPr>
          <p:cNvCxnSpPr>
            <a:cxnSpLocks/>
          </p:cNvCxnSpPr>
          <p:nvPr/>
        </p:nvCxnSpPr>
        <p:spPr>
          <a:xfrm>
            <a:off x="3941737" y="658189"/>
            <a:ext cx="510811" cy="3602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BF4DBD6-449D-52E1-CAA8-E6D67D3B4BCD}"/>
              </a:ext>
            </a:extLst>
          </p:cNvPr>
          <p:cNvCxnSpPr>
            <a:cxnSpLocks/>
          </p:cNvCxnSpPr>
          <p:nvPr/>
        </p:nvCxnSpPr>
        <p:spPr>
          <a:xfrm>
            <a:off x="3930440" y="2193797"/>
            <a:ext cx="640810" cy="3602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411DA5CA-41B2-F852-6AD2-5136F87FEC43}"/>
              </a:ext>
            </a:extLst>
          </p:cNvPr>
          <p:cNvCxnSpPr>
            <a:cxnSpLocks/>
          </p:cNvCxnSpPr>
          <p:nvPr/>
        </p:nvCxnSpPr>
        <p:spPr>
          <a:xfrm>
            <a:off x="3845177" y="5027809"/>
            <a:ext cx="726073" cy="3602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F201A40-BF63-DB2F-FA28-F47FBF79304C}"/>
              </a:ext>
            </a:extLst>
          </p:cNvPr>
          <p:cNvSpPr/>
          <p:nvPr/>
        </p:nvSpPr>
        <p:spPr>
          <a:xfrm>
            <a:off x="8318089" y="936814"/>
            <a:ext cx="232681" cy="183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1327371-06BE-D79B-0D44-9501E40EA8F9}"/>
              </a:ext>
            </a:extLst>
          </p:cNvPr>
          <p:cNvSpPr/>
          <p:nvPr/>
        </p:nvSpPr>
        <p:spPr>
          <a:xfrm>
            <a:off x="8318089" y="2370067"/>
            <a:ext cx="232681" cy="183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DB759A4-C71D-A9D1-5EAD-B8D37E30A7AF}"/>
              </a:ext>
            </a:extLst>
          </p:cNvPr>
          <p:cNvSpPr/>
          <p:nvPr/>
        </p:nvSpPr>
        <p:spPr>
          <a:xfrm>
            <a:off x="8278204" y="5385844"/>
            <a:ext cx="259668" cy="183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0FCBC3-0417-D787-FCB8-FFD5606C3D2B}"/>
              </a:ext>
            </a:extLst>
          </p:cNvPr>
          <p:cNvSpPr txBox="1"/>
          <p:nvPr/>
        </p:nvSpPr>
        <p:spPr>
          <a:xfrm>
            <a:off x="8637109" y="792930"/>
            <a:ext cx="33812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Bottom records Preview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DBDBA3-5995-1FBB-AE6E-50035CF33579}"/>
              </a:ext>
            </a:extLst>
          </p:cNvPr>
          <p:cNvSpPr txBox="1"/>
          <p:nvPr/>
        </p:nvSpPr>
        <p:spPr>
          <a:xfrm>
            <a:off x="8670473" y="2162948"/>
            <a:ext cx="338121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Checked  all column name in dataset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280A31-6EC6-8236-6177-FFBF023A261A}"/>
              </a:ext>
            </a:extLst>
          </p:cNvPr>
          <p:cNvSpPr txBox="1"/>
          <p:nvPr/>
        </p:nvSpPr>
        <p:spPr>
          <a:xfrm>
            <a:off x="8670473" y="5222990"/>
            <a:ext cx="33812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Missing values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8FD9CD-9A69-4BCE-0283-74254818F553}"/>
              </a:ext>
            </a:extLst>
          </p:cNvPr>
          <p:cNvSpPr txBox="1"/>
          <p:nvPr/>
        </p:nvSpPr>
        <p:spPr>
          <a:xfrm>
            <a:off x="9546429" y="-116888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764B847-B557-A2A2-3911-A1F30AD26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86" y="451023"/>
            <a:ext cx="2737067" cy="65859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80E0FC0-D7FB-8DD7-B1B9-22570C1BD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286" y="2020446"/>
            <a:ext cx="2805891" cy="50031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570924BB-DC58-634C-8736-F7A301A8B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111" y="3429000"/>
            <a:ext cx="2714923" cy="47248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990170D4-6C1C-745F-A43E-58CCD3B80A77}"/>
              </a:ext>
            </a:extLst>
          </p:cNvPr>
          <p:cNvCxnSpPr>
            <a:cxnSpLocks/>
          </p:cNvCxnSpPr>
          <p:nvPr/>
        </p:nvCxnSpPr>
        <p:spPr>
          <a:xfrm>
            <a:off x="3941737" y="3557034"/>
            <a:ext cx="629513" cy="39271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54EDBC38-8F48-B285-B604-6DA64637805F}"/>
              </a:ext>
            </a:extLst>
          </p:cNvPr>
          <p:cNvSpPr/>
          <p:nvPr/>
        </p:nvSpPr>
        <p:spPr>
          <a:xfrm>
            <a:off x="8298539" y="3727420"/>
            <a:ext cx="232681" cy="1839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95E2DC-971F-5F6D-5A47-369678CC70B7}"/>
              </a:ext>
            </a:extLst>
          </p:cNvPr>
          <p:cNvSpPr txBox="1"/>
          <p:nvPr/>
        </p:nvSpPr>
        <p:spPr>
          <a:xfrm>
            <a:off x="8776280" y="3580417"/>
            <a:ext cx="33812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Data information Overview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930D9D3-DE1E-570D-FA6A-169E0E4F2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111" y="4920450"/>
            <a:ext cx="2578986" cy="60016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955310BB-3B44-FDCB-85D5-C2AA093E05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935" y="299269"/>
            <a:ext cx="3657815" cy="1438376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CB23DF5-BA62-CFB0-F349-9FC0B58101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6514" y="2021277"/>
            <a:ext cx="3552127" cy="88972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98BD9191-6563-7138-EDDD-9E1FB94FF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7975" y="3083860"/>
            <a:ext cx="3552127" cy="160697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32653E2E-BC76-FAA6-3A71-04A0934415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56513" y="4841268"/>
            <a:ext cx="3552127" cy="171746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218575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902DBC1C-ACEC-FB12-5889-9CB31A0FA081}"/>
              </a:ext>
            </a:extLst>
          </p:cNvPr>
          <p:cNvCxnSpPr>
            <a:cxnSpLocks/>
          </p:cNvCxnSpPr>
          <p:nvPr/>
        </p:nvCxnSpPr>
        <p:spPr>
          <a:xfrm>
            <a:off x="3889337" y="704421"/>
            <a:ext cx="576496" cy="32316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62D726B-16B7-1A86-99DD-6ED70FF07E44}"/>
              </a:ext>
            </a:extLst>
          </p:cNvPr>
          <p:cNvCxnSpPr>
            <a:cxnSpLocks/>
          </p:cNvCxnSpPr>
          <p:nvPr/>
        </p:nvCxnSpPr>
        <p:spPr>
          <a:xfrm>
            <a:off x="3962400" y="2782529"/>
            <a:ext cx="464526" cy="25900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89B19932-65EA-A62B-EECE-F9CABB39202F}"/>
              </a:ext>
            </a:extLst>
          </p:cNvPr>
          <p:cNvCxnSpPr>
            <a:cxnSpLocks/>
          </p:cNvCxnSpPr>
          <p:nvPr/>
        </p:nvCxnSpPr>
        <p:spPr>
          <a:xfrm>
            <a:off x="3962400" y="4656633"/>
            <a:ext cx="486649" cy="2662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75998CDA-A148-E0E2-5BFA-1356E9980223}"/>
              </a:ext>
            </a:extLst>
          </p:cNvPr>
          <p:cNvSpPr/>
          <p:nvPr/>
        </p:nvSpPr>
        <p:spPr>
          <a:xfrm>
            <a:off x="7261999" y="1107850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AA9001D-27C4-5521-995D-75DE3F36A0EB}"/>
              </a:ext>
            </a:extLst>
          </p:cNvPr>
          <p:cNvSpPr/>
          <p:nvPr/>
        </p:nvSpPr>
        <p:spPr>
          <a:xfrm>
            <a:off x="7251665" y="2853796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85047B6-6EAC-BBCB-3230-1711FAE46879}"/>
              </a:ext>
            </a:extLst>
          </p:cNvPr>
          <p:cNvSpPr/>
          <p:nvPr/>
        </p:nvSpPr>
        <p:spPr>
          <a:xfrm>
            <a:off x="7365046" y="4610914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382F3-9CBA-6810-93D0-100BF30E26E2}"/>
              </a:ext>
            </a:extLst>
          </p:cNvPr>
          <p:cNvSpPr txBox="1"/>
          <p:nvPr/>
        </p:nvSpPr>
        <p:spPr>
          <a:xfrm>
            <a:off x="7955615" y="704421"/>
            <a:ext cx="3381212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Converted Diagnosis _ date and Treatment _ Start _ date column to Datetime Format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BB336-EF6C-791D-2908-4077A4C3EADF}"/>
              </a:ext>
            </a:extLst>
          </p:cNvPr>
          <p:cNvSpPr txBox="1"/>
          <p:nvPr/>
        </p:nvSpPr>
        <p:spPr>
          <a:xfrm>
            <a:off x="7987647" y="2576350"/>
            <a:ext cx="3381212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Create Age Category column for properly analysis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72279-6032-BFF5-B020-99B2CF2EC114}"/>
              </a:ext>
            </a:extLst>
          </p:cNvPr>
          <p:cNvSpPr txBox="1"/>
          <p:nvPr/>
        </p:nvSpPr>
        <p:spPr>
          <a:xfrm>
            <a:off x="8099265" y="4350245"/>
            <a:ext cx="33812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Check which patient are death.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5ECADE-3B28-88F8-F14A-4E41A603A5B7}"/>
              </a:ext>
            </a:extLst>
          </p:cNvPr>
          <p:cNvSpPr txBox="1"/>
          <p:nvPr/>
        </p:nvSpPr>
        <p:spPr>
          <a:xfrm>
            <a:off x="9023955" y="-29497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5A5B950D-82B8-1CB4-9DB7-8C5B600F2C7F}"/>
              </a:ext>
            </a:extLst>
          </p:cNvPr>
          <p:cNvCxnSpPr>
            <a:cxnSpLocks/>
          </p:cNvCxnSpPr>
          <p:nvPr/>
        </p:nvCxnSpPr>
        <p:spPr>
          <a:xfrm>
            <a:off x="3962400" y="6121754"/>
            <a:ext cx="552987" cy="22005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E753BA2E-557A-2531-7CFE-8963672A0FA3}"/>
              </a:ext>
            </a:extLst>
          </p:cNvPr>
          <p:cNvSpPr/>
          <p:nvPr/>
        </p:nvSpPr>
        <p:spPr>
          <a:xfrm>
            <a:off x="7472625" y="5937088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C2D6C2-0437-3213-342E-A699AE37DA61}"/>
              </a:ext>
            </a:extLst>
          </p:cNvPr>
          <p:cNvSpPr txBox="1"/>
          <p:nvPr/>
        </p:nvSpPr>
        <p:spPr>
          <a:xfrm>
            <a:off x="8404065" y="5752422"/>
            <a:ext cx="3381212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Fill the missing values using </a:t>
            </a:r>
            <a:r>
              <a:rPr lang="en-US" b="1" dirty="0" err="1">
                <a:latin typeface="Aptos Narrow" panose="020B0004020202020204" pitchFamily="34" charset="0"/>
              </a:rPr>
              <a:t>fillna</a:t>
            </a:r>
            <a:endParaRPr lang="en-US" b="1" dirty="0">
              <a:latin typeface="Aptos Narrow" panose="020B000402020202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11727CC-8B5E-F02A-FA35-B624B2097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89" y="358725"/>
            <a:ext cx="3540373" cy="771986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4E837D2-2A9E-9511-CA09-D61BAA623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654" y="158708"/>
            <a:ext cx="2644369" cy="1944005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22507F56-77E7-0CC1-CEA3-EAEEEFB22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89" y="2148366"/>
            <a:ext cx="3515920" cy="169490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4068B071-18E2-21FB-11E5-4E274F14B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0655" y="2325024"/>
            <a:ext cx="2562896" cy="166800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8E85B6C-5740-005D-8FA9-932FDCE24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89" y="4485992"/>
            <a:ext cx="3515919" cy="51058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E3052401-83E8-0974-4E98-2C02832F3E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0654" y="4085411"/>
            <a:ext cx="2712787" cy="128644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FC24979-E732-5F39-FF9F-42A0CB318C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689" y="5866921"/>
            <a:ext cx="3515920" cy="57155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11471F3A-DE58-D561-2689-A73C1EAED3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135" y="5520202"/>
            <a:ext cx="1582994" cy="1286445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1629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DB3E919E-8944-F8C6-927B-4462AB25EF22}"/>
              </a:ext>
            </a:extLst>
          </p:cNvPr>
          <p:cNvCxnSpPr>
            <a:cxnSpLocks/>
          </p:cNvCxnSpPr>
          <p:nvPr/>
        </p:nvCxnSpPr>
        <p:spPr>
          <a:xfrm>
            <a:off x="3575833" y="1190925"/>
            <a:ext cx="428635" cy="34240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F639A90-84CA-A2DA-F6EE-0D63979DBCBF}"/>
              </a:ext>
            </a:extLst>
          </p:cNvPr>
          <p:cNvCxnSpPr>
            <a:cxnSpLocks/>
          </p:cNvCxnSpPr>
          <p:nvPr/>
        </p:nvCxnSpPr>
        <p:spPr>
          <a:xfrm>
            <a:off x="3578942" y="3293806"/>
            <a:ext cx="445240" cy="30994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C24ED65D-3F5D-7945-A403-E258A545D781}"/>
              </a:ext>
            </a:extLst>
          </p:cNvPr>
          <p:cNvCxnSpPr>
            <a:cxnSpLocks/>
          </p:cNvCxnSpPr>
          <p:nvPr/>
        </p:nvCxnSpPr>
        <p:spPr>
          <a:xfrm>
            <a:off x="3571535" y="5426211"/>
            <a:ext cx="409723" cy="30994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7705AAB-3DAB-667E-6D9D-9E896AC0306E}"/>
              </a:ext>
            </a:extLst>
          </p:cNvPr>
          <p:cNvSpPr/>
          <p:nvPr/>
        </p:nvSpPr>
        <p:spPr>
          <a:xfrm>
            <a:off x="7235410" y="1374541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802DD368-5E51-815D-25F3-A665861F7497}"/>
              </a:ext>
            </a:extLst>
          </p:cNvPr>
          <p:cNvSpPr/>
          <p:nvPr/>
        </p:nvSpPr>
        <p:spPr>
          <a:xfrm>
            <a:off x="7178448" y="3580892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F1514-CD31-1AF2-4153-91C10C85E800}"/>
              </a:ext>
            </a:extLst>
          </p:cNvPr>
          <p:cNvSpPr txBox="1"/>
          <p:nvPr/>
        </p:nvSpPr>
        <p:spPr>
          <a:xfrm>
            <a:off x="7938035" y="803823"/>
            <a:ext cx="3381212" cy="13542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</a:rPr>
              <a:t>Cleaned the dataset by marking "Cause of Death" as "Not Applicable" for alive patients to improve data accuracy and ensure meaningful mortality analysis</a:t>
            </a:r>
            <a:r>
              <a:rPr lang="en-US" b="1" dirty="0">
                <a:latin typeface="Aptos Narrow" panose="020B000402020202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831B2F-4C34-5867-B7B0-FA0A198E5712}"/>
              </a:ext>
            </a:extLst>
          </p:cNvPr>
          <p:cNvSpPr txBox="1"/>
          <p:nvPr/>
        </p:nvSpPr>
        <p:spPr>
          <a:xfrm>
            <a:off x="8178909" y="3003588"/>
            <a:ext cx="3381212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Create column  Patient Statues for better analysis and see that which are dead and which are alive 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6ED93E-EC5E-7F40-4779-7424959B963A}"/>
              </a:ext>
            </a:extLst>
          </p:cNvPr>
          <p:cNvSpPr txBox="1"/>
          <p:nvPr/>
        </p:nvSpPr>
        <p:spPr>
          <a:xfrm>
            <a:off x="9023955" y="-29497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8AEC94E-184D-80DF-21DD-3262527F31F0}"/>
              </a:ext>
            </a:extLst>
          </p:cNvPr>
          <p:cNvSpPr/>
          <p:nvPr/>
        </p:nvSpPr>
        <p:spPr>
          <a:xfrm>
            <a:off x="7119700" y="5535465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1B401C-91AC-2183-BDE0-97903C291996}"/>
              </a:ext>
            </a:extLst>
          </p:cNvPr>
          <p:cNvSpPr txBox="1"/>
          <p:nvPr/>
        </p:nvSpPr>
        <p:spPr>
          <a:xfrm>
            <a:off x="8247735" y="5073800"/>
            <a:ext cx="3381212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b="1" dirty="0">
                <a:latin typeface="Aptos Narrow" panose="020B0004020202020204" pitchFamily="34" charset="0"/>
              </a:rPr>
              <a:t>Create column BMI and Survival day and Diagnosis Year For better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ECD9B0-5F02-197F-BA32-678AC937A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54" y="693992"/>
            <a:ext cx="2998326" cy="99386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6F403F-C2AD-8610-BDB6-FD75BF107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6858" y="550081"/>
            <a:ext cx="2934938" cy="160795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92C7D4-F130-9C80-D289-D57A4ECE9D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43" y="3061795"/>
            <a:ext cx="3086270" cy="73440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6A09C0E-C31B-38B9-EC8E-9728EF2A0C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89" y="2717020"/>
            <a:ext cx="1494503" cy="142395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AB2CB1F-E323-16E6-A400-1A77C6F1C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894" y="4782513"/>
            <a:ext cx="3342969" cy="146316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9B85900-FC97-581A-5801-BCCE207555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2826" y="4888273"/>
            <a:ext cx="2667231" cy="151601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5945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976BBE7C-7E2A-8125-DB96-84ADB21BBDB1}"/>
              </a:ext>
            </a:extLst>
          </p:cNvPr>
          <p:cNvCxnSpPr>
            <a:cxnSpLocks/>
          </p:cNvCxnSpPr>
          <p:nvPr/>
        </p:nvCxnSpPr>
        <p:spPr>
          <a:xfrm>
            <a:off x="3775783" y="2817359"/>
            <a:ext cx="515125" cy="36463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B36DD3DF-8CD3-E573-8589-567ADE811C6F}"/>
              </a:ext>
            </a:extLst>
          </p:cNvPr>
          <p:cNvCxnSpPr>
            <a:cxnSpLocks/>
          </p:cNvCxnSpPr>
          <p:nvPr/>
        </p:nvCxnSpPr>
        <p:spPr>
          <a:xfrm>
            <a:off x="3749878" y="703692"/>
            <a:ext cx="517546" cy="2711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F07DCDEC-9E4E-9C8B-3D8C-E7E3AA10EE6A}"/>
              </a:ext>
            </a:extLst>
          </p:cNvPr>
          <p:cNvCxnSpPr>
            <a:cxnSpLocks/>
          </p:cNvCxnSpPr>
          <p:nvPr/>
        </p:nvCxnSpPr>
        <p:spPr>
          <a:xfrm>
            <a:off x="3901345" y="5035023"/>
            <a:ext cx="554455" cy="26327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6EE1EA4-B14F-4AFB-71B5-60F94B219B3C}"/>
              </a:ext>
            </a:extLst>
          </p:cNvPr>
          <p:cNvSpPr/>
          <p:nvPr/>
        </p:nvSpPr>
        <p:spPr>
          <a:xfrm>
            <a:off x="7087696" y="1162211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7EE2DAA-6F95-D333-7D6C-FF8D9B265241}"/>
              </a:ext>
            </a:extLst>
          </p:cNvPr>
          <p:cNvSpPr/>
          <p:nvPr/>
        </p:nvSpPr>
        <p:spPr>
          <a:xfrm flipV="1">
            <a:off x="7995032" y="2976816"/>
            <a:ext cx="365681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CC779803-3569-453F-4EFF-CAFC27A06872}"/>
              </a:ext>
            </a:extLst>
          </p:cNvPr>
          <p:cNvSpPr/>
          <p:nvPr/>
        </p:nvSpPr>
        <p:spPr>
          <a:xfrm>
            <a:off x="7973960" y="5298299"/>
            <a:ext cx="386753" cy="70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AAB16E-6576-1DF3-C1A9-0D90453F538A}"/>
              </a:ext>
            </a:extLst>
          </p:cNvPr>
          <p:cNvSpPr txBox="1"/>
          <p:nvPr/>
        </p:nvSpPr>
        <p:spPr>
          <a:xfrm>
            <a:off x="8419304" y="530821"/>
            <a:ext cx="3381212" cy="13542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</a:rPr>
              <a:t>The bar chart shows that alive patients are higher than deceased patients, indicating a positive survival rate and effective treatment outcomes</a:t>
            </a:r>
            <a:r>
              <a:rPr lang="en-US" dirty="0"/>
              <a:t>.</a:t>
            </a:r>
            <a:endParaRPr lang="en-US" b="1" dirty="0">
              <a:latin typeface="Aptos Narrow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A49CD-01DC-55CB-6572-B7C5672E0071}"/>
              </a:ext>
            </a:extLst>
          </p:cNvPr>
          <p:cNvSpPr txBox="1"/>
          <p:nvPr/>
        </p:nvSpPr>
        <p:spPr>
          <a:xfrm>
            <a:off x="8434516" y="2267500"/>
            <a:ext cx="3381212" cy="156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The chart shows the distribution of different cancer types, highlighting the most common cancers among patients. This helps in resource planning, treatment focus, and early detection programs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9D217-A80C-2A2C-95E7-70DDBB451618}"/>
              </a:ext>
            </a:extLst>
          </p:cNvPr>
          <p:cNvSpPr txBox="1"/>
          <p:nvPr/>
        </p:nvSpPr>
        <p:spPr>
          <a:xfrm>
            <a:off x="8434516" y="4645621"/>
            <a:ext cx="3381212" cy="13542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The chart shows the distribution of patients across cancer stages, helping to assess early detection effectiveness and identify areas for improving diagnosis and treatment strategies</a:t>
            </a:r>
            <a:r>
              <a:rPr lang="en-US" dirty="0"/>
              <a:t>.</a:t>
            </a:r>
            <a:r>
              <a:rPr lang="en-US" b="1" dirty="0">
                <a:latin typeface="Aptos Narrow" panose="020B0004020202020204" pitchFamily="34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022228-8F34-17E6-DD63-96A2C8387195}"/>
              </a:ext>
            </a:extLst>
          </p:cNvPr>
          <p:cNvSpPr txBox="1"/>
          <p:nvPr/>
        </p:nvSpPr>
        <p:spPr>
          <a:xfrm>
            <a:off x="9191103" y="-12357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E021A3-D454-5F24-8632-F446C9A24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087" y="350985"/>
            <a:ext cx="3475008" cy="1837465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6AD979F-33BF-8251-5560-0E8A9F06EA58}"/>
              </a:ext>
            </a:extLst>
          </p:cNvPr>
          <p:cNvSpPr txBox="1"/>
          <p:nvPr/>
        </p:nvSpPr>
        <p:spPr>
          <a:xfrm>
            <a:off x="4808507" y="-91015"/>
            <a:ext cx="157744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Amasis MT Pro Black" panose="02040A04050005020304" pitchFamily="18" charset="0"/>
              </a:rPr>
              <a:t>Charts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BAE4CF5-4FA9-8E23-66CA-687E0C987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628" y="342122"/>
            <a:ext cx="3278587" cy="108975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06F9A726-1E09-7E6E-5577-EB634A5F5056}"/>
              </a:ext>
            </a:extLst>
          </p:cNvPr>
          <p:cNvSpPr/>
          <p:nvPr/>
        </p:nvSpPr>
        <p:spPr>
          <a:xfrm flipV="1">
            <a:off x="7973961" y="1097170"/>
            <a:ext cx="36568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5713477-5CF3-032A-6E20-7DBB633FE8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64" y="2481473"/>
            <a:ext cx="3368332" cy="99068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BD3E8D9-0180-EA77-7DD8-B9EFB01E3B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024" y="2443302"/>
            <a:ext cx="3413200" cy="174602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3AEB28F-9CB4-55BB-9BD6-76A75E67A0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273" y="4637077"/>
            <a:ext cx="3454460" cy="80016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C4C5F57-DE9C-ED01-57FC-8A0A468715A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5801" y="4444181"/>
            <a:ext cx="3366294" cy="2223251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01688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416D591E-D021-0A44-7928-583A16AC4A39}"/>
              </a:ext>
            </a:extLst>
          </p:cNvPr>
          <p:cNvCxnSpPr>
            <a:cxnSpLocks/>
          </p:cNvCxnSpPr>
          <p:nvPr/>
        </p:nvCxnSpPr>
        <p:spPr>
          <a:xfrm>
            <a:off x="3800548" y="1009189"/>
            <a:ext cx="545841" cy="458519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16DD4DE5-6DB4-ECD0-085F-A9E97709817A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3850968" y="3268303"/>
            <a:ext cx="585114" cy="46840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1AC7EF0-D0CE-CF55-FCB7-960312944F81}"/>
              </a:ext>
            </a:extLst>
          </p:cNvPr>
          <p:cNvSpPr/>
          <p:nvPr/>
        </p:nvSpPr>
        <p:spPr>
          <a:xfrm>
            <a:off x="7403943" y="1238449"/>
            <a:ext cx="544106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720A6A2-9DC3-9E05-50F2-B5BFC76E3953}"/>
              </a:ext>
            </a:extLst>
          </p:cNvPr>
          <p:cNvSpPr/>
          <p:nvPr/>
        </p:nvSpPr>
        <p:spPr>
          <a:xfrm flipV="1">
            <a:off x="7472516" y="3511363"/>
            <a:ext cx="544106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F4E356-05A7-3A47-BDFC-145A9A820332}"/>
              </a:ext>
            </a:extLst>
          </p:cNvPr>
          <p:cNvSpPr txBox="1"/>
          <p:nvPr/>
        </p:nvSpPr>
        <p:spPr>
          <a:xfrm>
            <a:off x="8016622" y="661814"/>
            <a:ext cx="3381212" cy="13542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</a:rPr>
              <a:t>The chart highlights the distribution of treatment types, showing the most commonly used therapies and helping in resource planning and treatment optimization</a:t>
            </a:r>
            <a:r>
              <a:rPr lang="en-US" b="1" dirty="0">
                <a:latin typeface="Aptos Narrow" panose="020B0004020202020204" pitchFamily="34" charset="0"/>
              </a:rPr>
              <a:t>.</a:t>
            </a:r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D522A9FC-3FDA-0DCF-627B-18C50C80C2EB}"/>
              </a:ext>
            </a:extLst>
          </p:cNvPr>
          <p:cNvCxnSpPr>
            <a:cxnSpLocks/>
          </p:cNvCxnSpPr>
          <p:nvPr/>
        </p:nvCxnSpPr>
        <p:spPr>
          <a:xfrm>
            <a:off x="3882847" y="5520978"/>
            <a:ext cx="521722" cy="2975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66C979B-4CD6-896D-3E47-70AD3DDD5591}"/>
              </a:ext>
            </a:extLst>
          </p:cNvPr>
          <p:cNvSpPr/>
          <p:nvPr/>
        </p:nvSpPr>
        <p:spPr>
          <a:xfrm>
            <a:off x="7592062" y="5784277"/>
            <a:ext cx="544106" cy="6857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57D602-1C5C-902E-101D-423E7CFE1018}"/>
              </a:ext>
            </a:extLst>
          </p:cNvPr>
          <p:cNvSpPr txBox="1"/>
          <p:nvPr/>
        </p:nvSpPr>
        <p:spPr>
          <a:xfrm>
            <a:off x="8085193" y="2798301"/>
            <a:ext cx="3381212" cy="1323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The smoking status distribution shows the proportion of smokers and non-smokers among cancer patients, helping to understand smoking as a potential cancer risk factor.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7AA09B-9844-B59A-5EC4-DB793626FCD6}"/>
              </a:ext>
            </a:extLst>
          </p:cNvPr>
          <p:cNvSpPr txBox="1"/>
          <p:nvPr/>
        </p:nvSpPr>
        <p:spPr>
          <a:xfrm>
            <a:off x="8203014" y="5229832"/>
            <a:ext cx="3381212" cy="1323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The dataset includes officially verified medical inspection records with certification details, which help track inspection history and ensure compliance.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99437B-BDED-6633-5842-8122A6A28CF3}"/>
              </a:ext>
            </a:extLst>
          </p:cNvPr>
          <p:cNvSpPr txBox="1"/>
          <p:nvPr/>
        </p:nvSpPr>
        <p:spPr>
          <a:xfrm>
            <a:off x="8731844" y="0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ED18E2-D69C-18B7-C8E8-A31F4CB6D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34" y="728504"/>
            <a:ext cx="3512928" cy="73920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CEE01BF-F364-D251-209E-8482A0533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570" y="306983"/>
            <a:ext cx="2664824" cy="212502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DC5DA4D-00C7-7A4C-02A1-0103582009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90" y="2925373"/>
            <a:ext cx="3573278" cy="68585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77203F-BD16-E07A-141B-CEA8E24FB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841" y="2770936"/>
            <a:ext cx="2877567" cy="186721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2192161-CFB3-76AA-D64F-05EE0594A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755" y="5229832"/>
            <a:ext cx="3381213" cy="76968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9FB5DAE-1C2C-5B1A-6A19-9F45D8CF99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8590" y="4953838"/>
            <a:ext cx="2932921" cy="159717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68614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or: Curved 3">
            <a:extLst>
              <a:ext uri="{FF2B5EF4-FFF2-40B4-BE49-F238E27FC236}">
                <a16:creationId xmlns:a16="http://schemas.microsoft.com/office/drawing/2014/main" id="{183B1A29-4146-012E-D3C8-94D168E93671}"/>
              </a:ext>
            </a:extLst>
          </p:cNvPr>
          <p:cNvCxnSpPr>
            <a:cxnSpLocks/>
          </p:cNvCxnSpPr>
          <p:nvPr/>
        </p:nvCxnSpPr>
        <p:spPr>
          <a:xfrm>
            <a:off x="3213565" y="1022555"/>
            <a:ext cx="517335" cy="41295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B268951-9846-7358-D826-54E2D7F4FB1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213565" y="3378822"/>
            <a:ext cx="517335" cy="46016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9403B65-5A09-1045-30CE-1A3E166EDA3A}"/>
              </a:ext>
            </a:extLst>
          </p:cNvPr>
          <p:cNvSpPr txBox="1"/>
          <p:nvPr/>
        </p:nvSpPr>
        <p:spPr>
          <a:xfrm>
            <a:off x="9023955" y="-29497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9E4ACC-44E6-1010-A986-EF16AD798F72}"/>
              </a:ext>
            </a:extLst>
          </p:cNvPr>
          <p:cNvSpPr txBox="1"/>
          <p:nvPr/>
        </p:nvSpPr>
        <p:spPr>
          <a:xfrm>
            <a:off x="8606808" y="617463"/>
            <a:ext cx="3381212" cy="1323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</a:rPr>
              <a:t>The gender distribution shows the proportion of male and female patients, helping identify which group is more affected and enabling targeted healthcare planning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6A8B9F-AC63-75F2-1AF5-7F69921BB99D}"/>
              </a:ext>
            </a:extLst>
          </p:cNvPr>
          <p:cNvSpPr txBox="1"/>
          <p:nvPr/>
        </p:nvSpPr>
        <p:spPr>
          <a:xfrm>
            <a:off x="8576649" y="2922959"/>
            <a:ext cx="3381212" cy="1323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</a:rPr>
              <a:t>The ethnicity distribution shows cancer cases across different ethnic groups, helping identify high-risk populations and plan targeted screening and awareness programs.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78429AFA-5E18-F951-83BA-11D96EE19A60}"/>
              </a:ext>
            </a:extLst>
          </p:cNvPr>
          <p:cNvCxnSpPr>
            <a:cxnSpLocks/>
          </p:cNvCxnSpPr>
          <p:nvPr/>
        </p:nvCxnSpPr>
        <p:spPr>
          <a:xfrm>
            <a:off x="3213565" y="5681038"/>
            <a:ext cx="557168" cy="35596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27A9850-E76D-230D-7295-D3848D81D3DA}"/>
              </a:ext>
            </a:extLst>
          </p:cNvPr>
          <p:cNvSpPr txBox="1"/>
          <p:nvPr/>
        </p:nvSpPr>
        <p:spPr>
          <a:xfrm>
            <a:off x="8634278" y="5211666"/>
            <a:ext cx="3381212" cy="11079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The BMI distribution shows patient weight categories and helps analyze obesity as a potential cancer risk factor</a:t>
            </a:r>
            <a:r>
              <a:rPr lang="en-US" dirty="0"/>
              <a:t>.</a:t>
            </a:r>
            <a:r>
              <a:rPr lang="en-US" b="1" dirty="0">
                <a:latin typeface="Aptos Narrow" panose="020B00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E82E5-5310-5AF0-A4FE-2EB3F90C6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5" y="641804"/>
            <a:ext cx="3014949" cy="95258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D52221-F1E5-7250-91A0-09D481615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18" y="367296"/>
            <a:ext cx="3879698" cy="2063208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D625456D-399F-4603-4086-D6AF3A0C776E}"/>
              </a:ext>
            </a:extLst>
          </p:cNvPr>
          <p:cNvSpPr/>
          <p:nvPr/>
        </p:nvSpPr>
        <p:spPr>
          <a:xfrm>
            <a:off x="7837842" y="1241529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D88FE90-83C9-DB9A-9C7C-83DFE1CE0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" y="2571032"/>
            <a:ext cx="3167617" cy="1615580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2363831-44A4-7F6A-50BD-66A4235C19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0900" y="3054391"/>
            <a:ext cx="3982101" cy="147772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22" name="Arrow: Right 21">
            <a:extLst>
              <a:ext uri="{FF2B5EF4-FFF2-40B4-BE49-F238E27FC236}">
                <a16:creationId xmlns:a16="http://schemas.microsoft.com/office/drawing/2014/main" id="{4963CD31-2DCC-F04C-CC9A-EAA8CDC58E26}"/>
              </a:ext>
            </a:extLst>
          </p:cNvPr>
          <p:cNvSpPr/>
          <p:nvPr/>
        </p:nvSpPr>
        <p:spPr>
          <a:xfrm>
            <a:off x="7895633" y="3608902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B8F5928-87FD-1941-6F37-E9520F565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8" y="5358744"/>
            <a:ext cx="3118886" cy="1066892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998B192-01AB-7413-6D94-EABFA330B2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8362" y="5033846"/>
            <a:ext cx="3982101" cy="171668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A6AE4F36-F96B-0FE0-6F7C-15DC736D3B2B}"/>
              </a:ext>
            </a:extLst>
          </p:cNvPr>
          <p:cNvSpPr/>
          <p:nvPr/>
        </p:nvSpPr>
        <p:spPr>
          <a:xfrm>
            <a:off x="7950009" y="5681038"/>
            <a:ext cx="626640" cy="457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53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782939FC-B8F4-0A3E-F2E2-7EB1B8A8D5D4}"/>
              </a:ext>
            </a:extLst>
          </p:cNvPr>
          <p:cNvCxnSpPr>
            <a:cxnSpLocks/>
          </p:cNvCxnSpPr>
          <p:nvPr/>
        </p:nvCxnSpPr>
        <p:spPr>
          <a:xfrm>
            <a:off x="3261882" y="709053"/>
            <a:ext cx="557669" cy="3547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1BFA5063-741D-500F-67C9-FB73C4C7DBC8}"/>
              </a:ext>
            </a:extLst>
          </p:cNvPr>
          <p:cNvCxnSpPr>
            <a:cxnSpLocks/>
          </p:cNvCxnSpPr>
          <p:nvPr/>
        </p:nvCxnSpPr>
        <p:spPr>
          <a:xfrm>
            <a:off x="3313844" y="2533945"/>
            <a:ext cx="505707" cy="38532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C0450CC7-702F-1D6F-8685-DA9F6FC18B00}"/>
              </a:ext>
            </a:extLst>
          </p:cNvPr>
          <p:cNvCxnSpPr>
            <a:cxnSpLocks/>
          </p:cNvCxnSpPr>
          <p:nvPr/>
        </p:nvCxnSpPr>
        <p:spPr>
          <a:xfrm>
            <a:off x="3261882" y="4389365"/>
            <a:ext cx="499978" cy="35734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3D892C5A-1B50-0209-BA91-00D61C9EB471}"/>
              </a:ext>
            </a:extLst>
          </p:cNvPr>
          <p:cNvSpPr/>
          <p:nvPr/>
        </p:nvSpPr>
        <p:spPr>
          <a:xfrm>
            <a:off x="7514062" y="4458081"/>
            <a:ext cx="520681" cy="102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EB4CC89-48E6-A8A9-FEC1-49EB23A130A2}"/>
              </a:ext>
            </a:extLst>
          </p:cNvPr>
          <p:cNvSpPr/>
          <p:nvPr/>
        </p:nvSpPr>
        <p:spPr>
          <a:xfrm>
            <a:off x="7475178" y="2878314"/>
            <a:ext cx="520681" cy="102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5B8ACA8-EA49-D209-7E41-A55F254BA71C}"/>
              </a:ext>
            </a:extLst>
          </p:cNvPr>
          <p:cNvSpPr/>
          <p:nvPr/>
        </p:nvSpPr>
        <p:spPr>
          <a:xfrm>
            <a:off x="7475177" y="961321"/>
            <a:ext cx="520681" cy="102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1A24D3-36E1-5D8F-9CAC-53D098997AA4}"/>
              </a:ext>
            </a:extLst>
          </p:cNvPr>
          <p:cNvSpPr txBox="1"/>
          <p:nvPr/>
        </p:nvSpPr>
        <p:spPr>
          <a:xfrm>
            <a:off x="9023955" y="-29497"/>
            <a:ext cx="1239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latin typeface="Aptos Narrow" panose="020B0004020202020204" pitchFamily="34" charset="0"/>
              </a:rPr>
              <a:t>Insight</a:t>
            </a:r>
            <a:r>
              <a:rPr lang="en-US" sz="2800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B3CF73-6BBF-7E6A-CF31-7E7E22417CA8}"/>
              </a:ext>
            </a:extLst>
          </p:cNvPr>
          <p:cNvSpPr txBox="1"/>
          <p:nvPr/>
        </p:nvSpPr>
        <p:spPr>
          <a:xfrm>
            <a:off x="8313155" y="493723"/>
            <a:ext cx="3381212" cy="1323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</a:rPr>
              <a:t>The year-wise trend shows how cancer cases have changed over time, helping identify trends, plan resources, and improve early detection programs.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BD91A3-94A9-A227-0FF5-932B5E27E03D}"/>
              </a:ext>
            </a:extLst>
          </p:cNvPr>
          <p:cNvSpPr txBox="1"/>
          <p:nvPr/>
        </p:nvSpPr>
        <p:spPr>
          <a:xfrm>
            <a:off x="8313155" y="2267857"/>
            <a:ext cx="3381212" cy="1323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ptos Narrow" panose="020B0004020202020204" pitchFamily="34" charset="0"/>
              </a:rPr>
              <a:t>The analysis shows that smokers have a higher mortality rate compared to non-smokers, indicating smoking as a major risk factor affecting cancer </a:t>
            </a:r>
            <a:r>
              <a:rPr lang="en-US" sz="1600" b="1" dirty="0" err="1">
                <a:latin typeface="Aptos Narrow" panose="020B0004020202020204" pitchFamily="34" charset="0"/>
              </a:rPr>
              <a:t>surviva</a:t>
            </a:r>
            <a:endParaRPr lang="en-US" sz="1600" b="1" dirty="0">
              <a:latin typeface="Aptos Narrow" panose="020B00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D1876EF-6336-925F-AB32-BDFB64D2D26E}"/>
              </a:ext>
            </a:extLst>
          </p:cNvPr>
          <p:cNvSpPr txBox="1"/>
          <p:nvPr/>
        </p:nvSpPr>
        <p:spPr>
          <a:xfrm>
            <a:off x="8313155" y="3898887"/>
            <a:ext cx="3381212" cy="13234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The analysis shows that mortality is higher in advanced cancer stages, while early-stage diagnosis has a higher survival rate, highlighting the importance of early detection..</a:t>
            </a:r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4D19B2A6-FE9A-5702-87F7-5FD43B9A074C}"/>
              </a:ext>
            </a:extLst>
          </p:cNvPr>
          <p:cNvCxnSpPr>
            <a:cxnSpLocks/>
          </p:cNvCxnSpPr>
          <p:nvPr/>
        </p:nvCxnSpPr>
        <p:spPr>
          <a:xfrm>
            <a:off x="3299310" y="5916028"/>
            <a:ext cx="505707" cy="38532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7F76B45-1602-69E2-DE45-612548C54EC5}"/>
              </a:ext>
            </a:extLst>
          </p:cNvPr>
          <p:cNvSpPr txBox="1"/>
          <p:nvPr/>
        </p:nvSpPr>
        <p:spPr>
          <a:xfrm>
            <a:off x="8313155" y="5518817"/>
            <a:ext cx="3381212" cy="10772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latin typeface="Arial Narrow" panose="020B0606020202030204" pitchFamily="34" charset="0"/>
              </a:rPr>
              <a:t>Patients with comorbidities have a higher mortality rate, indicating that existing health conditions increase cancer risk and complications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434E0942-DB62-5590-8087-CA2D44380A84}"/>
              </a:ext>
            </a:extLst>
          </p:cNvPr>
          <p:cNvSpPr/>
          <p:nvPr/>
        </p:nvSpPr>
        <p:spPr>
          <a:xfrm>
            <a:off x="7475179" y="6057426"/>
            <a:ext cx="520681" cy="102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29ED4E-663A-279E-B9F3-740F10372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75" y="325637"/>
            <a:ext cx="2896559" cy="990686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08484B-49EE-D773-F5B5-12FF3F41D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846" y="108832"/>
            <a:ext cx="3279038" cy="1910031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7D8E0B-6CCD-47EF-8231-48B818F407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61" y="2234964"/>
            <a:ext cx="2896559" cy="723963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968E2D-A543-F31B-8D33-BBAE97AC7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8847" y="2185572"/>
            <a:ext cx="3279038" cy="1488010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5E57BE-2870-7856-6405-B8A361ECA8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591" y="4071520"/>
            <a:ext cx="3049889" cy="800169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24C6ED2-30BE-95F9-8344-CD3E642FD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78847" y="3840291"/>
            <a:ext cx="3279037" cy="1444339"/>
          </a:xfrm>
          <a:prstGeom prst="rect">
            <a:avLst/>
          </a:prstGeom>
          <a:ln w="12700">
            <a:solidFill>
              <a:schemeClr val="accent1"/>
            </a:solidFill>
          </a:ln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AA06083-9065-4BE9-37F1-061D8694CC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975" y="5651045"/>
            <a:ext cx="3006505" cy="739204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BA1D390-F326-6AAE-F98D-6C9D44CB1C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78847" y="5451339"/>
            <a:ext cx="3279038" cy="1323439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09585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34FFB04-AEC5-D303-2EEA-46DF8BFE954E}"/>
              </a:ext>
            </a:extLst>
          </p:cNvPr>
          <p:cNvSpPr txBox="1"/>
          <p:nvPr/>
        </p:nvSpPr>
        <p:spPr>
          <a:xfrm>
            <a:off x="3441291" y="0"/>
            <a:ext cx="4542503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3600" b="1" dirty="0">
                <a:ln/>
                <a:solidFill>
                  <a:schemeClr val="accent3"/>
                </a:solidFill>
                <a:latin typeface="Amasis MT Pro Black" panose="02040A04050005020304" pitchFamily="18" charset="0"/>
              </a:rPr>
              <a:t>Recommendations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556085F-8F56-F17B-E37F-1B9B87183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DA9960A7-B045-67E6-3BD0-4424E0C0E1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27" y="1142554"/>
            <a:ext cx="11407146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The hospital should focus on early cancer detection and screening programs, as early-stage diagnosis increases survival rate.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Smoking awareness programs should be implemented to reduce cancer risk among patients.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Special attention should be given to high-risk patients such as smokers, obese patients, and patients with comorbidities.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The hospital should improve treatment facilities for advanced-stage cancer patients to reduce mortality.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More resources and medical support should be allocated to the most common cancer types.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The hospital should promote healthy lifestyle programs such as proper diet, exercise, and regular health checkups.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</a:rPr>
              <a:t>Data analytics dashboards should be used for continuous monitoring and better decision-making. </a:t>
            </a:r>
          </a:p>
        </p:txBody>
      </p:sp>
    </p:spTree>
    <p:extLst>
      <p:ext uri="{BB962C8B-B14F-4D97-AF65-F5344CB8AC3E}">
        <p14:creationId xmlns:p14="http://schemas.microsoft.com/office/powerpoint/2010/main" val="3294508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E58AA2B-E83E-2326-093B-7513668D027E}"/>
              </a:ext>
            </a:extLst>
          </p:cNvPr>
          <p:cNvSpPr txBox="1"/>
          <p:nvPr/>
        </p:nvSpPr>
        <p:spPr>
          <a:xfrm>
            <a:off x="3618270" y="1968428"/>
            <a:ext cx="4601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00000"/>
                </a:solidFill>
                <a:latin typeface="Amasis MT Pro Black" panose="02040A040500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34995319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1008</TotalTime>
  <Words>671</Words>
  <Application>Microsoft Office PowerPoint</Application>
  <PresentationFormat>Widescreen</PresentationFormat>
  <Paragraphs>73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Amasis MT Pro Black</vt:lpstr>
      <vt:lpstr>Aptos</vt:lpstr>
      <vt:lpstr>Aptos Narrow</vt:lpstr>
      <vt:lpstr>Arial</vt:lpstr>
      <vt:lpstr>Arial Black</vt:lpstr>
      <vt:lpstr>Arial Narrow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KHETO</dc:creator>
  <cp:lastModifiedBy>ANKITA KHETO</cp:lastModifiedBy>
  <cp:revision>27</cp:revision>
  <dcterms:created xsi:type="dcterms:W3CDTF">2025-12-11T23:26:05Z</dcterms:created>
  <dcterms:modified xsi:type="dcterms:W3CDTF">2026-04-10T07:37:43Z</dcterms:modified>
</cp:coreProperties>
</file>